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7" r:id="rId4"/>
  </p:sldMasterIdLst>
  <p:notesMasterIdLst>
    <p:notesMasterId r:id="rId21"/>
  </p:notesMasterIdLst>
  <p:sldIdLst>
    <p:sldId id="256" r:id="rId5"/>
    <p:sldId id="330" r:id="rId6"/>
    <p:sldId id="336" r:id="rId7"/>
    <p:sldId id="339" r:id="rId8"/>
    <p:sldId id="337" r:id="rId9"/>
    <p:sldId id="338" r:id="rId10"/>
    <p:sldId id="261" r:id="rId11"/>
    <p:sldId id="335" r:id="rId12"/>
    <p:sldId id="333" r:id="rId13"/>
    <p:sldId id="334" r:id="rId14"/>
    <p:sldId id="262" r:id="rId15"/>
    <p:sldId id="264" r:id="rId16"/>
    <p:sldId id="318" r:id="rId17"/>
    <p:sldId id="319" r:id="rId18"/>
    <p:sldId id="265" r:id="rId19"/>
    <p:sldId id="34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2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78"/>
    <p:restoredTop sz="87035"/>
  </p:normalViewPr>
  <p:slideViewPr>
    <p:cSldViewPr snapToGrid="0">
      <p:cViewPr varScale="1">
        <p:scale>
          <a:sx n="130" d="100"/>
          <a:sy n="130" d="100"/>
        </p:scale>
        <p:origin x="192" y="384"/>
      </p:cViewPr>
      <p:guideLst>
        <p:guide orient="horz" pos="822"/>
        <p:guide pos="325"/>
        <p:guide orient="horz" pos="2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DB1D7-A2E6-5540-AAB6-9A95390687AC}" type="datetimeFigureOut">
              <a:rPr lang="en-IL" smtClean="0"/>
              <a:t>12/09/2026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EB3D3-3C4F-5E4D-9290-0C0B5A2442F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4459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EB3D3-3C4F-5E4D-9290-0C0B5A2442F8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5480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EB3D3-3C4F-5E4D-9290-0C0B5A2442F8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2518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EB3D3-3C4F-5E4D-9290-0C0B5A2442F8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390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EB3D3-3C4F-5E4D-9290-0C0B5A2442F8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98802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EB3D3-3C4F-5E4D-9290-0C0B5A2442F8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7350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EB3D3-3C4F-5E4D-9290-0C0B5A2442F8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26990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Note: Dependency injection is one of the SOLID object-oriented principles.</a:t>
            </a:r>
          </a:p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EB3D3-3C4F-5E4D-9290-0C0B5A2442F8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3425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4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0610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06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45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46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1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438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85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74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18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4556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048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0793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680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33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91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9531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F98BB-5165-09FB-9932-62B60F1FD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4856" y="1680201"/>
            <a:ext cx="3179146" cy="236755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1">
                <a:latin typeface="ATT Aleck Sans" panose="020B0503020203020204" pitchFamily="34" charset="0"/>
                <a:cs typeface="ATT Aleck Sans" panose="020B0503020203020204" pitchFamily="34" charset="0"/>
              </a:rPr>
              <a:t>Practical Spring Boot For TDP</a:t>
            </a:r>
            <a:endParaRPr lang="en-IL" sz="4600" b="1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DEF19-7C10-50FE-FB51-1D9164D93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4375" y="4047760"/>
            <a:ext cx="3179628" cy="1096899"/>
          </a:xfrm>
        </p:spPr>
        <p:txBody>
          <a:bodyPr>
            <a:normAutofit/>
          </a:bodyPr>
          <a:lstStyle/>
          <a:p>
            <a:r>
              <a:rPr lang="en-IL">
                <a:latin typeface="ATT Aleck Sans" panose="020B0503020203020204" pitchFamily="34" charset="0"/>
                <a:cs typeface="ATT Aleck Sans" panose="020B0503020203020204" pitchFamily="34" charset="0"/>
              </a:rPr>
              <a:t>Idan Shalom, 2026</a:t>
            </a:r>
          </a:p>
          <a:p>
            <a:r>
              <a:rPr lang="en-IL">
                <a:latin typeface="ATT Aleck Sans" panose="020B0503020203020204" pitchFamily="34" charset="0"/>
                <a:cs typeface="ATT Aleck Sans" panose="020B0503020203020204" pitchFamily="34" charset="0"/>
              </a:rPr>
              <a:t>Hands-on workshop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72CE066-DF97-4C55-9917-67390D2F9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F95FC956-256F-F142-7CE6-9F25B017E4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68" r="-4" b="6155"/>
          <a:stretch/>
        </p:blipFill>
        <p:spPr>
          <a:xfrm>
            <a:off x="888603" y="1261330"/>
            <a:ext cx="4973212" cy="433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57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A6CC-471B-E467-E433-0F7F437BD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369" y="420414"/>
            <a:ext cx="3737268" cy="1320800"/>
          </a:xfrm>
        </p:spPr>
        <p:txBody>
          <a:bodyPr>
            <a:normAutofit/>
          </a:bodyPr>
          <a:lstStyle/>
          <a:p>
            <a:pPr defTabSz="457200" rtl="0" eaLnBrk="1" latinLnBrk="0" hangingPunct="1">
              <a:spcBef>
                <a:spcPct val="0"/>
              </a:spcBef>
              <a:buNone/>
            </a:pPr>
            <a:r>
              <a:rPr lang="en-US" b="1">
                <a:latin typeface="ATT Aleck Sans" panose="020B0503020203020204" pitchFamily="34" charset="0"/>
                <a:cs typeface="ATT Aleck Sans" panose="020B0503020203020204" pitchFamily="34" charset="0"/>
              </a:rPr>
              <a:t>ABOUT ME</a:t>
            </a:r>
            <a:endParaRPr lang="en-IL" b="1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2346EB-9401-46E4-9E10-8279B07A9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118" y="1238865"/>
            <a:ext cx="5486400" cy="461132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TT Aleck Sans" panose="020B0503020203020204" pitchFamily="34" charset="0"/>
                <a:cs typeface="ATT Aleck Sans" panose="020B0503020203020204" pitchFamily="34" charset="0"/>
              </a:rPr>
              <a:t>Tech Lead | 9 years at AT&amp;T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TT Aleck Sans" panose="020B0503020203020204" pitchFamily="34" charset="0"/>
                <a:cs typeface="ATT Aleck Sans" panose="020B0503020203020204" pitchFamily="34" charset="0"/>
              </a:rPr>
              <a:t>Experienced: Java, Go, Node.js, Python, JavaScript, C#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TT Aleck Sans" panose="020B0503020203020204" pitchFamily="34" charset="0"/>
                <a:cs typeface="ATT Aleck Sans" panose="020B0503020203020204" pitchFamily="34" charset="0"/>
              </a:rPr>
              <a:t>Interests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TT Aleck Sans" panose="020B0503020203020204" pitchFamily="34" charset="0"/>
                <a:cs typeface="ATT Aleck Sans" panose="020B0503020203020204" pitchFamily="34" charset="0"/>
              </a:rPr>
              <a:t>Tech (obviously)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TT Aleck Sans" panose="020B0503020203020204" pitchFamily="34" charset="0"/>
                <a:cs typeface="ATT Aleck Sans" panose="020B0503020203020204" pitchFamily="34" charset="0"/>
              </a:rPr>
              <a:t>Music &amp; Movies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TT Aleck Sans" panose="020B0503020203020204" pitchFamily="34" charset="0"/>
                <a:cs typeface="ATT Aleck Sans" panose="020B0503020203020204" pitchFamily="34" charset="0"/>
              </a:rPr>
              <a:t>GYM &amp; Intermittent Fasting</a:t>
            </a:r>
          </a:p>
        </p:txBody>
      </p:sp>
      <p:pic>
        <p:nvPicPr>
          <p:cNvPr id="6" name="Picture 5" descr="A person in a white shirt&#10;&#10;Description automatically generated">
            <a:extLst>
              <a:ext uri="{FF2B5EF4-FFF2-40B4-BE49-F238E27FC236}">
                <a16:creationId xmlns:a16="http://schemas.microsoft.com/office/drawing/2014/main" id="{674104E2-17E9-8FBB-DE1A-00F65AA02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518" y="2241550"/>
            <a:ext cx="24765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78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6BB8-4BF3-3508-C7F9-3A3425FB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ATT Aleck Sans" panose="020B0503020203020204" pitchFamily="34" charset="0"/>
                <a:cs typeface="ATT Aleck Sans" panose="020B0503020203020204" pitchFamily="34" charset="0"/>
              </a:rPr>
              <a:t>HIGHLIGHTS</a:t>
            </a:r>
            <a:endParaRPr lang="en-IL" b="1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2698F-114F-2821-205D-E3D552AB5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64" y="1340782"/>
            <a:ext cx="9486169" cy="3880773"/>
          </a:xfrm>
        </p:spPr>
        <p:txBody>
          <a:bodyPr>
            <a:noAutofit/>
          </a:bodyPr>
          <a:lstStyle/>
          <a:p>
            <a:r>
              <a:rPr lang="en-US" sz="3200">
                <a:latin typeface="ATT Aleck Sans" panose="020B0503020203020204" pitchFamily="34" charset="0"/>
                <a:cs typeface="ATT Aleck Sans" panose="020B0503020203020204" pitchFamily="34" charset="0"/>
              </a:rPr>
              <a:t>README BASED WORKSHOP</a:t>
            </a:r>
          </a:p>
          <a:p>
            <a:r>
              <a:rPr lang="en-US" sz="3200">
                <a:latin typeface="ATT Aleck Sans" panose="020B0503020203020204" pitchFamily="34" charset="0"/>
                <a:cs typeface="ATT Aleck Sans" panose="020B0503020203020204" pitchFamily="34" charset="0"/>
              </a:rPr>
              <a:t>HANDS ON!</a:t>
            </a:r>
          </a:p>
          <a:p>
            <a:r>
              <a:rPr lang="en-US" sz="3200">
                <a:latin typeface="ATT Aleck Sans" panose="020B0503020203020204" pitchFamily="34" charset="0"/>
                <a:cs typeface="ATT Aleck Sans" panose="020B0503020203020204" pitchFamily="34" charset="0"/>
              </a:rPr>
              <a:t>COVERS MOST OF THE BASIC &amp; IMPORTANT TOPICS OF SPRING BOOT</a:t>
            </a:r>
          </a:p>
          <a:p>
            <a:r>
              <a:rPr lang="en-US" sz="3200">
                <a:latin typeface="ATT Aleck Sans" panose="020B0503020203020204" pitchFamily="34" charset="0"/>
                <a:cs typeface="ATT Aleck Sans" panose="020B0503020203020204" pitchFamily="34" charset="0"/>
              </a:rPr>
              <a:t>BUILT INCREMENTALLY</a:t>
            </a:r>
          </a:p>
          <a:p>
            <a:r>
              <a:rPr lang="en-US" sz="3200">
                <a:latin typeface="ATT Aleck Sans" panose="020B0503020203020204" pitchFamily="34" charset="0"/>
                <a:cs typeface="ATT Aleck Sans" panose="020B0503020203020204" pitchFamily="34" charset="0"/>
              </a:rPr>
              <a:t>EVERY TOPIC HAS A BRANCH</a:t>
            </a:r>
          </a:p>
          <a:p>
            <a:r>
              <a:rPr lang="en-US" sz="3200">
                <a:latin typeface="ATT Aleck Sans" panose="020B0503020203020204" pitchFamily="34" charset="0"/>
                <a:cs typeface="ATT Aleck Sans" panose="020B0503020203020204" pitchFamily="34" charset="0"/>
              </a:rPr>
              <a:t>USE THE REPO AS A REFERENCE</a:t>
            </a:r>
          </a:p>
          <a:p>
            <a:r>
              <a:rPr lang="en-US" sz="3200">
                <a:latin typeface="ATT Aleck Sans" panose="020B0503020203020204" pitchFamily="34" charset="0"/>
                <a:cs typeface="ATT Aleck Sans" panose="020B0503020203020204" pitchFamily="34" charset="0"/>
              </a:rPr>
              <a:t>SUPPORT GROUP</a:t>
            </a:r>
            <a:endParaRPr lang="en-IL" sz="320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384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850000"/>
          </a:xfrm>
        </p:spPr>
        <p:txBody>
          <a:bodyPr>
            <a:normAutofit/>
          </a:bodyPr>
          <a:lstStyle/>
          <a:p>
            <a:r>
              <a:rPr lang="en-US" sz="3200" b="1"/>
              <a:t>Agenda</a:t>
            </a:r>
          </a:p>
        </p:txBody>
      </p:sp>
      <p:sp>
        <p:nvSpPr>
          <p:cNvPr id="11" name="Num 1"/>
          <p:cNvSpPr/>
          <p:nvPr/>
        </p:nvSpPr>
        <p:spPr>
          <a:xfrm>
            <a:off x="1200000" y="1500000"/>
            <a:ext cx="700000" cy="7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2" name="Row 1"/>
          <p:cNvSpPr/>
          <p:nvPr/>
        </p:nvSpPr>
        <p:spPr>
          <a:xfrm>
            <a:off x="2050000" y="1500000"/>
            <a:ext cx="8900000" cy="700000"/>
          </a:xfrm>
          <a:prstGeom prst="rect">
            <a:avLst/>
          </a:prstGeom>
          <a:noFill/>
        </p:spPr>
        <p:txBody>
          <a:bodyPr lIns="0" anchor="ctr">
            <a:norm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Why a framework?</a:t>
            </a:r>
            <a:r>
              <a:rPr lang="en-US" sz="1400">
                <a:solidFill>
                  <a:schemeClr val="tx1">
                    <a:alpha val="70000"/>
                  </a:schemeClr>
                </a:solidFill>
              </a:rPr>
              <a:t>   Motivation for Spring Boot</a:t>
            </a:r>
          </a:p>
        </p:txBody>
      </p:sp>
      <p:sp>
        <p:nvSpPr>
          <p:cNvPr id="13" name="Num 2"/>
          <p:cNvSpPr/>
          <p:nvPr/>
        </p:nvSpPr>
        <p:spPr>
          <a:xfrm>
            <a:off x="1200000" y="2400000"/>
            <a:ext cx="700000" cy="70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4" name="Row 2"/>
          <p:cNvSpPr/>
          <p:nvPr/>
        </p:nvSpPr>
        <p:spPr>
          <a:xfrm>
            <a:off x="2050000" y="2400000"/>
            <a:ext cx="8900000" cy="700000"/>
          </a:xfrm>
          <a:prstGeom prst="rect">
            <a:avLst/>
          </a:prstGeom>
          <a:noFill/>
        </p:spPr>
        <p:txBody>
          <a:bodyPr lIns="0" anchor="ctr">
            <a:norm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Spring Boot essentials</a:t>
            </a:r>
            <a:r>
              <a:rPr lang="en-US" sz="1400">
                <a:solidFill>
                  <a:schemeClr val="tx1">
                    <a:alpha val="70000"/>
                  </a:schemeClr>
                </a:solidFill>
              </a:rPr>
              <a:t>   What it is and what you get</a:t>
            </a:r>
          </a:p>
        </p:txBody>
      </p:sp>
      <p:sp>
        <p:nvSpPr>
          <p:cNvPr id="15" name="Num 3"/>
          <p:cNvSpPr/>
          <p:nvPr/>
        </p:nvSpPr>
        <p:spPr>
          <a:xfrm>
            <a:off x="1200000" y="3300000"/>
            <a:ext cx="700000" cy="70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6" name="Row 3"/>
          <p:cNvSpPr/>
          <p:nvPr/>
        </p:nvSpPr>
        <p:spPr>
          <a:xfrm>
            <a:off x="2050000" y="3300000"/>
            <a:ext cx="8900000" cy="700000"/>
          </a:xfrm>
          <a:prstGeom prst="rect">
            <a:avLst/>
          </a:prstGeom>
          <a:noFill/>
        </p:spPr>
        <p:txBody>
          <a:bodyPr lIns="0" anchor="ctr">
            <a:norm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Inversion of Control</a:t>
            </a:r>
            <a:r>
              <a:rPr lang="en-US" sz="1400">
                <a:solidFill>
                  <a:schemeClr val="tx1">
                    <a:alpha val="70000"/>
                  </a:schemeClr>
                </a:solidFill>
              </a:rPr>
              <a:t>   The principle behind the container</a:t>
            </a:r>
          </a:p>
        </p:txBody>
      </p:sp>
      <p:sp>
        <p:nvSpPr>
          <p:cNvPr id="17" name="Num 4"/>
          <p:cNvSpPr/>
          <p:nvPr/>
        </p:nvSpPr>
        <p:spPr>
          <a:xfrm>
            <a:off x="1200000" y="4200000"/>
            <a:ext cx="700000" cy="70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8" name="Row 4"/>
          <p:cNvSpPr/>
          <p:nvPr/>
        </p:nvSpPr>
        <p:spPr>
          <a:xfrm>
            <a:off x="2050000" y="4200000"/>
            <a:ext cx="8900000" cy="700000"/>
          </a:xfrm>
          <a:prstGeom prst="rect">
            <a:avLst/>
          </a:prstGeom>
          <a:noFill/>
        </p:spPr>
        <p:txBody>
          <a:bodyPr lIns="0" anchor="ctr">
            <a:norm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Dependency Injection</a:t>
            </a:r>
            <a:r>
              <a:rPr lang="en-US" sz="1400">
                <a:solidFill>
                  <a:schemeClr val="tx1">
                    <a:alpha val="70000"/>
                  </a:schemeClr>
                </a:solidFill>
              </a:rPr>
              <a:t>   The pattern, applied to real code</a:t>
            </a:r>
          </a:p>
        </p:txBody>
      </p:sp>
      <p:sp>
        <p:nvSpPr>
          <p:cNvPr id="19" name="Num 5"/>
          <p:cNvSpPr/>
          <p:nvPr/>
        </p:nvSpPr>
        <p:spPr>
          <a:xfrm>
            <a:off x="1200000" y="5100000"/>
            <a:ext cx="700000" cy="70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1600" b="1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20" name="Row 5"/>
          <p:cNvSpPr/>
          <p:nvPr/>
        </p:nvSpPr>
        <p:spPr>
          <a:xfrm>
            <a:off x="2050000" y="5100000"/>
            <a:ext cx="8900000" cy="700000"/>
          </a:xfrm>
          <a:prstGeom prst="rect">
            <a:avLst/>
          </a:prstGeom>
          <a:noFill/>
        </p:spPr>
        <p:txBody>
          <a:bodyPr lIns="0" anchor="ctr">
            <a:norm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Hands-on</a:t>
            </a:r>
            <a:r>
              <a:rPr lang="en-US" sz="1400">
                <a:solidFill>
                  <a:schemeClr val="tx1">
                    <a:alpha val="70000"/>
                  </a:schemeClr>
                </a:solidFill>
              </a:rPr>
              <a:t>   Work the repo branch by branch</a:t>
            </a:r>
          </a:p>
        </p:txBody>
      </p:sp>
    </p:spTree>
    <p:extLst>
      <p:ext uri="{BB962C8B-B14F-4D97-AF65-F5344CB8AC3E}">
        <p14:creationId xmlns:p14="http://schemas.microsoft.com/office/powerpoint/2010/main" val="11122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ED2E3-DBE8-B2EF-8448-00600C561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423" y="2977227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L" sz="9600" b="1" dirty="0">
                <a:latin typeface="ATT Aleck Sans" panose="020B0503020203020204" pitchFamily="34" charset="0"/>
                <a:cs typeface="ATT Aleck Sans" panose="020B0503020203020204" pitchFamily="34" charset="0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545037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900000"/>
          </a:xfrm>
        </p:spPr>
        <p:txBody>
          <a:bodyPr>
            <a:normAutofit/>
          </a:bodyPr>
          <a:lstStyle/>
          <a:p>
            <a:r>
              <a:rPr lang="en-US" sz="3200" b="1"/>
              <a:t>Why use a web framework?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3809600" y="2150000"/>
            <a:ext cx="990400" cy="1500000"/>
          </a:xfrm>
          <a:prstGeom prst="line">
            <a:avLst/>
          </a:prstGeom>
          <a:ln w="19050" cap="rnd">
            <a:solidFill>
              <a:schemeClr val="accent2">
                <a:alpha val="7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2"/>
          <p:cNvCxnSpPr/>
          <p:nvPr/>
        </p:nvCxnSpPr>
        <p:spPr>
          <a:xfrm>
            <a:off x="3809600" y="3650000"/>
            <a:ext cx="990400" cy="0"/>
          </a:xfrm>
          <a:prstGeom prst="line">
            <a:avLst/>
          </a:prstGeom>
          <a:ln w="19050" cap="rnd">
            <a:solidFill>
              <a:schemeClr val="accent1">
                <a:alpha val="7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3"/>
          <p:cNvCxnSpPr/>
          <p:nvPr/>
        </p:nvCxnSpPr>
        <p:spPr>
          <a:xfrm flipV="1">
            <a:off x="3809600" y="3650000"/>
            <a:ext cx="990400" cy="1500000"/>
          </a:xfrm>
          <a:prstGeom prst="line">
            <a:avLst/>
          </a:prstGeom>
          <a:ln w="19050" cap="rnd">
            <a:solidFill>
              <a:schemeClr val="accent3">
                <a:alpha val="7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4"/>
          <p:cNvCxnSpPr/>
          <p:nvPr/>
        </p:nvCxnSpPr>
        <p:spPr>
          <a:xfrm flipV="1">
            <a:off x="7392000" y="2150000"/>
            <a:ext cx="990000" cy="1500000"/>
          </a:xfrm>
          <a:prstGeom prst="line">
            <a:avLst/>
          </a:prstGeom>
          <a:ln w="19050" cap="rnd">
            <a:solidFill>
              <a:schemeClr val="accent4">
                <a:alpha val="7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5"/>
          <p:cNvCxnSpPr/>
          <p:nvPr/>
        </p:nvCxnSpPr>
        <p:spPr>
          <a:xfrm>
            <a:off x="7392000" y="3650000"/>
            <a:ext cx="990000" cy="0"/>
          </a:xfrm>
          <a:prstGeom prst="line">
            <a:avLst/>
          </a:prstGeom>
          <a:ln w="19050" cap="rnd">
            <a:solidFill>
              <a:schemeClr val="accent5">
                <a:alpha val="7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6"/>
          <p:cNvCxnSpPr/>
          <p:nvPr/>
        </p:nvCxnSpPr>
        <p:spPr>
          <a:xfrm>
            <a:off x="7392000" y="3650000"/>
            <a:ext cx="990000" cy="1500000"/>
          </a:xfrm>
          <a:prstGeom prst="line">
            <a:avLst/>
          </a:prstGeom>
          <a:ln w="19050" cap="rnd">
            <a:solidFill>
              <a:schemeClr val="accent6">
                <a:alpha val="7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Hub"/>
          <p:cNvSpPr/>
          <p:nvPr/>
        </p:nvSpPr>
        <p:spPr>
          <a:xfrm>
            <a:off x="4800000" y="2900000"/>
            <a:ext cx="2592000" cy="1500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txBody>
          <a:bodyPr lIns="91440" rIns="91440" anchor="ctr">
            <a:normAutofit/>
          </a:bodyPr>
          <a:lstStyle/>
          <a:p>
            <a:pPr algn="ctr"/>
            <a:r>
              <a:rPr lang="en-US" sz="1800" b="1">
                <a:solidFill>
                  <a:schemeClr val="bg1"/>
                </a:solidFill>
              </a:rPr>
              <a:t>Web Framework</a:t>
            </a:r>
          </a:p>
          <a:p>
            <a:pPr algn="ctr"/>
            <a:r>
              <a:rPr lang="en-US" sz="1200">
                <a:solidFill>
                  <a:schemeClr val="accent1"/>
                </a:solidFill>
              </a:rPr>
              <a:t>(Spring Boot)</a:t>
            </a:r>
          </a:p>
        </p:txBody>
      </p:sp>
      <p:sp>
        <p:nvSpPr>
          <p:cNvPr id="18" name="Card Routing"/>
          <p:cNvSpPr/>
          <p:nvPr/>
        </p:nvSpPr>
        <p:spPr>
          <a:xfrm>
            <a:off x="609600" y="1550000"/>
            <a:ext cx="3200000" cy="1200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lIns="182880" tIns="91440" rIns="137160" bIns="91440" anchor="ctr">
            <a:normAutofit/>
          </a:bodyPr>
          <a:lstStyle/>
          <a:p>
            <a:r>
              <a:rPr lang="en-US" sz="1400" b="1">
                <a:solidFill>
                  <a:schemeClr val="accent2"/>
                </a:solidFill>
              </a:rPr>
              <a:t>Routing</a:t>
            </a:r>
          </a:p>
          <a:p>
            <a:r>
              <a:rPr lang="en-US" sz="1050">
                <a:solidFill>
                  <a:schemeClr val="tx1"/>
                </a:solidFill>
              </a:rPr>
              <a:t>Map URLs to handlers — no servlet plumbing</a:t>
            </a:r>
          </a:p>
        </p:txBody>
      </p:sp>
      <p:sp>
        <p:nvSpPr>
          <p:cNvPr id="19" name="Card Dependency Injection"/>
          <p:cNvSpPr/>
          <p:nvPr/>
        </p:nvSpPr>
        <p:spPr>
          <a:xfrm>
            <a:off x="609600" y="3050000"/>
            <a:ext cx="3200000" cy="1200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lIns="182880" tIns="91440" rIns="137160" bIns="91440" anchor="ctr">
            <a:norm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Dependency Injection</a:t>
            </a:r>
          </a:p>
          <a:p>
            <a:r>
              <a:rPr lang="en-US" sz="1050">
                <a:solidFill>
                  <a:schemeClr val="tx1"/>
                </a:solidFill>
              </a:rPr>
              <a:t>Wire components by contract, not by new()</a:t>
            </a:r>
          </a:p>
        </p:txBody>
      </p:sp>
      <p:sp>
        <p:nvSpPr>
          <p:cNvPr id="20" name="Card Error Handling"/>
          <p:cNvSpPr/>
          <p:nvPr/>
        </p:nvSpPr>
        <p:spPr>
          <a:xfrm>
            <a:off x="609600" y="4550000"/>
            <a:ext cx="3200000" cy="1200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txBody>
          <a:bodyPr lIns="182880" tIns="91440" rIns="137160" bIns="91440" anchor="ctr">
            <a:normAutofit/>
          </a:bodyPr>
          <a:lstStyle/>
          <a:p>
            <a:r>
              <a:rPr lang="en-US" sz="1400" b="1">
                <a:solidFill>
                  <a:schemeClr val="accent3"/>
                </a:solidFill>
              </a:rPr>
              <a:t>Error Handling</a:t>
            </a:r>
          </a:p>
          <a:p>
            <a:r>
              <a:rPr lang="en-US" sz="1050">
                <a:solidFill>
                  <a:schemeClr val="tx1"/>
                </a:solidFill>
              </a:rPr>
              <a:t>One place for exceptions and HTTP responses</a:t>
            </a:r>
          </a:p>
        </p:txBody>
      </p:sp>
      <p:sp>
        <p:nvSpPr>
          <p:cNvPr id="21" name="Card Configuration"/>
          <p:cNvSpPr/>
          <p:nvPr/>
        </p:nvSpPr>
        <p:spPr>
          <a:xfrm>
            <a:off x="8382000" y="1550000"/>
            <a:ext cx="3200000" cy="1200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lIns="182880" tIns="91440" rIns="137160" bIns="91440" anchor="ctr">
            <a:normAutofit/>
          </a:bodyPr>
          <a:lstStyle/>
          <a:p>
            <a:r>
              <a:rPr lang="en-US" sz="1400" b="1">
                <a:solidFill>
                  <a:schemeClr val="accent4"/>
                </a:solidFill>
              </a:rPr>
              <a:t>Configuration</a:t>
            </a:r>
          </a:p>
          <a:p>
            <a:r>
              <a:rPr lang="en-US" sz="1050">
                <a:solidFill>
                  <a:schemeClr val="tx1"/>
                </a:solidFill>
              </a:rPr>
              <a:t>Externalized settings and profiles per env</a:t>
            </a:r>
          </a:p>
        </p:txBody>
      </p:sp>
      <p:sp>
        <p:nvSpPr>
          <p:cNvPr id="22" name="Card Security"/>
          <p:cNvSpPr/>
          <p:nvPr/>
        </p:nvSpPr>
        <p:spPr>
          <a:xfrm>
            <a:off x="8382000" y="3050000"/>
            <a:ext cx="3200000" cy="1200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txBody>
          <a:bodyPr lIns="182880" tIns="91440" rIns="137160" bIns="91440" anchor="ctr">
            <a:normAutofit/>
          </a:bodyPr>
          <a:lstStyle/>
          <a:p>
            <a:r>
              <a:rPr lang="en-US" sz="1400" b="1">
                <a:solidFill>
                  <a:schemeClr val="accent5"/>
                </a:solidFill>
              </a:rPr>
              <a:t>Security</a:t>
            </a:r>
          </a:p>
          <a:p>
            <a:r>
              <a:rPr lang="en-US" sz="1050">
                <a:solidFill>
                  <a:schemeClr val="tx1"/>
                </a:solidFill>
              </a:rPr>
              <a:t>Auth, roles and CSRF protection built in</a:t>
            </a:r>
          </a:p>
        </p:txBody>
      </p:sp>
      <p:sp>
        <p:nvSpPr>
          <p:cNvPr id="23" name="Card Data &amp; Testing"/>
          <p:cNvSpPr/>
          <p:nvPr/>
        </p:nvSpPr>
        <p:spPr>
          <a:xfrm>
            <a:off x="8382000" y="4550000"/>
            <a:ext cx="3200000" cy="1200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lIns="182880" tIns="91440" rIns="137160" bIns="91440" anchor="ctr">
            <a:normAutofit/>
          </a:bodyPr>
          <a:lstStyle/>
          <a:p>
            <a:r>
              <a:rPr lang="en-US" sz="1400" b="1">
                <a:solidFill>
                  <a:schemeClr val="accent6"/>
                </a:solidFill>
              </a:rPr>
              <a:t>Data &amp; Testing</a:t>
            </a:r>
          </a:p>
          <a:p>
            <a:r>
              <a:rPr lang="en-US" sz="1050">
                <a:solidFill>
                  <a:schemeClr val="tx1"/>
                </a:solidFill>
              </a:rPr>
              <a:t>Repositories, transactions, test slices</a:t>
            </a:r>
          </a:p>
        </p:txBody>
      </p:sp>
      <p:sp>
        <p:nvSpPr>
          <p:cNvPr id="90" name="Footnote"/>
          <p:cNvSpPr/>
          <p:nvPr/>
        </p:nvSpPr>
        <p:spPr>
          <a:xfrm>
            <a:off x="609600" y="6050000"/>
            <a:ext cx="10972800" cy="400000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 algn="ctr"/>
            <a:r>
              <a:rPr lang="en-US" sz="1200" i="1">
                <a:solidFill>
                  <a:schemeClr val="tx1">
                    <a:alpha val="75000"/>
                  </a:schemeClr>
                </a:solidFill>
              </a:rPr>
              <a:t>Solved once by the framework - so you write business logic, not plumbing.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27E2-9264-E9CB-DD10-E00D462BF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 b="1">
                <a:latin typeface="ATT Aleck Sans" panose="020B0503020203020204" pitchFamily="34" charset="0"/>
                <a:cs typeface="ATT Aleck Sans" panose="020B0503020203020204" pitchFamily="34" charset="0"/>
              </a:rPr>
              <a:t>What is </a:t>
            </a:r>
            <a:r>
              <a:rPr lang="en-IL" b="1" dirty="0">
                <a:latin typeface="ATT Aleck Sans" panose="020B0503020203020204" pitchFamily="34" charset="0"/>
                <a:cs typeface="ATT Aleck Sans" panose="020B0503020203020204" pitchFamily="34" charset="0"/>
              </a:rPr>
              <a:t>Spring Boot</a:t>
            </a:r>
            <a:r>
              <a:rPr lang="en-IL" b="1">
                <a:latin typeface="ATT Aleck Sans" panose="020B0503020203020204" pitchFamily="34" charset="0"/>
                <a:cs typeface="ATT Aleck Sans" panose="020B0503020203020204" pitchFamily="34" charset="0"/>
              </a:rPr>
              <a:t>?</a:t>
            </a:r>
            <a:endParaRPr lang="en-IL" b="1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DD530-32D2-007A-86C5-1583B8315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61" y="1435375"/>
            <a:ext cx="8596668" cy="3880773"/>
          </a:xfrm>
        </p:spPr>
        <p:txBody>
          <a:bodyPr>
            <a:noAutofit/>
          </a:bodyPr>
          <a:lstStyle/>
          <a:p>
            <a:pPr marL="400050"/>
            <a:r>
              <a:rPr lang="en-US" sz="2800" i="1" dirty="0">
                <a:latin typeface="ATT Aleck Sans" panose="020B0503020203020204" pitchFamily="34" charset="0"/>
                <a:cs typeface="ATT Aleck Sans" panose="020B0503020203020204" pitchFamily="34" charset="0"/>
              </a:rPr>
              <a:t>Spring</a:t>
            </a:r>
            <a:r>
              <a:rPr lang="en-US" sz="2800" i="1">
                <a:latin typeface="ATT Aleck Sans" panose="020B0503020203020204" pitchFamily="34" charset="0"/>
                <a:cs typeface="ATT Aleck Sans" panose="020B0503020203020204" pitchFamily="34" charset="0"/>
              </a:rPr>
              <a:t> - an umbrella of projects that simplify common problems in day-to-day enterprise development.</a:t>
            </a:r>
          </a:p>
          <a:p>
            <a:pPr marL="400050"/>
            <a:r>
              <a:rPr lang="en-US" sz="2800" i="1" dirty="0">
                <a:latin typeface="ATT Aleck Sans" panose="020B0503020203020204" pitchFamily="34" charset="0"/>
                <a:cs typeface="ATT Aleck Sans" panose="020B0503020203020204" pitchFamily="34" charset="0"/>
              </a:rPr>
              <a:t>Spring Boot </a:t>
            </a:r>
            <a:r>
              <a:rPr lang="en-US" sz="2800" i="1">
                <a:latin typeface="ATT Aleck Sans" panose="020B0503020203020204" pitchFamily="34" charset="0"/>
                <a:cs typeface="ATT Aleck Sans" panose="020B0503020203020204" pitchFamily="34" charset="0"/>
              </a:rPr>
              <a:t>- built on top of </a:t>
            </a:r>
            <a:r>
              <a:rPr lang="en-US" sz="2800" i="1" dirty="0">
                <a:latin typeface="ATT Aleck Sans" panose="020B0503020203020204" pitchFamily="34" charset="0"/>
                <a:cs typeface="ATT Aleck Sans" panose="020B0503020203020204" pitchFamily="34" charset="0"/>
              </a:rPr>
              <a:t>Spring</a:t>
            </a:r>
            <a:r>
              <a:rPr lang="en-US" sz="2800" i="1">
                <a:latin typeface="ATT Aleck Sans" panose="020B0503020203020204" pitchFamily="34" charset="0"/>
                <a:cs typeface="ATT Aleck Sans" panose="020B0503020203020204" pitchFamily="34" charset="0"/>
              </a:rPr>
              <a:t>: a faster, easier way to set up, configure and run applications.</a:t>
            </a:r>
          </a:p>
          <a:p>
            <a:pPr marL="400050"/>
            <a:r>
              <a:rPr lang="en-US" sz="2800" i="1">
                <a:latin typeface="ATT Aleck Sans" panose="020B0503020203020204" pitchFamily="34" charset="0"/>
                <a:cs typeface="ATT Aleck Sans" panose="020B0503020203020204" pitchFamily="34" charset="0"/>
              </a:rPr>
              <a:t>Opinionated by design: best practices baked in, covering most use cases.</a:t>
            </a:r>
            <a:endParaRPr lang="ru-RU" sz="2800" dirty="0">
              <a:cs typeface="ATT Aleck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451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27E2-9264-E9CB-DD10-E00D462BF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 b="1">
                <a:latin typeface="ATT Aleck Sans" panose="020B0503020203020204" pitchFamily="34" charset="0"/>
                <a:cs typeface="ATT Aleck Sans" panose="020B0503020203020204" pitchFamily="34" charset="0"/>
              </a:rPr>
              <a:t>What you get out of the box</a:t>
            </a:r>
            <a:endParaRPr lang="en-IL" b="1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DD530-32D2-007A-86C5-1583B8315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823" y="1477417"/>
            <a:ext cx="8596668" cy="3880773"/>
          </a:xfrm>
        </p:spPr>
        <p:txBody>
          <a:bodyPr>
            <a:noAutofit/>
          </a:bodyPr>
          <a:lstStyle/>
          <a:p>
            <a:pPr marL="57150" indent="0">
              <a:buNone/>
            </a:pPr>
            <a:r>
              <a:rPr lang="en-US" sz="2800" i="1" dirty="0">
                <a:latin typeface="ATT Aleck Sans" panose="020B0503020203020204" pitchFamily="34" charset="0"/>
                <a:cs typeface="ATT Aleck Sans" panose="020B0503020203020204" pitchFamily="34" charset="0"/>
              </a:rPr>
              <a:t>Spring Boot </a:t>
            </a:r>
            <a:r>
              <a:rPr lang="en-US" sz="2800" dirty="0">
                <a:latin typeface="ATT Aleck Sans" panose="020B0503020203020204" pitchFamily="34" charset="0"/>
                <a:cs typeface="ATT Aleck Sans" panose="020B0503020203020204" pitchFamily="34" charset="0"/>
              </a:rPr>
              <a:t>is used for creating a stand-alone </a:t>
            </a:r>
            <a:br>
              <a:rPr lang="en-US" sz="2800" dirty="0">
                <a:latin typeface="ATT Aleck Sans" panose="020B0503020203020204" pitchFamily="34" charset="0"/>
                <a:cs typeface="ATT Aleck Sans" panose="020B0503020203020204" pitchFamily="34" charset="0"/>
              </a:rPr>
            </a:br>
            <a:r>
              <a:rPr lang="en-US" sz="2800" i="1" dirty="0">
                <a:latin typeface="ATT Aleck Sans" panose="020B0503020203020204" pitchFamily="34" charset="0"/>
                <a:cs typeface="ATT Aleck Sans" panose="020B0503020203020204" pitchFamily="34" charset="0"/>
              </a:rPr>
              <a:t>Spring</a:t>
            </a:r>
            <a:r>
              <a:rPr lang="en-US" sz="2800" dirty="0">
                <a:latin typeface="ATT Aleck Sans" panose="020B0503020203020204" pitchFamily="34" charset="0"/>
                <a:cs typeface="ATT Aleck Sans" panose="020B0503020203020204" pitchFamily="34" charset="0"/>
              </a:rPr>
              <a:t>-based application that you can run easily because it requires minimal Spring configuration.</a:t>
            </a:r>
          </a:p>
          <a:p>
            <a:pPr lvl="2"/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 No need for web servlets; it has Tomcat embedded.</a:t>
            </a:r>
          </a:p>
          <a:p>
            <a:pPr lvl="2"/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 Configurations are pre-packaged;</a:t>
            </a:r>
          </a:p>
          <a:p>
            <a:pPr lvl="2"/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 Just run it, and you have a server up </a:t>
            </a: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and running.</a:t>
            </a:r>
            <a:endParaRPr lang="en-US" sz="2400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054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8256-1F68-1CA5-64C3-132D1FE7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 b="1">
                <a:latin typeface="ATT Aleck Sans" panose="020B0503020203020204" pitchFamily="34" charset="0"/>
                <a:cs typeface="ATT Aleck Sans" panose="020B0503020203020204" pitchFamily="34" charset="0"/>
              </a:rPr>
              <a:t>Inversion of Control (IoC)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4243-09E5-8F02-1D25-313D3FFD8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410" y="1445886"/>
            <a:ext cx="8596668" cy="2377440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sz="2800" dirty="0">
                <a:latin typeface="ATT Aleck Sans" panose="020B0503020203020204" pitchFamily="34" charset="0"/>
                <a:cs typeface="ATT Aleck Sans" panose="020B0503020203020204" pitchFamily="34" charset="0"/>
              </a:rPr>
              <a:t>Inversion of Control (IoC) is a design principle where the control of object creation and lifecycle management is transferred from the application code to a container or framework.</a:t>
            </a:r>
          </a:p>
        </p:txBody>
      </p:sp>
      <p:sp>
        <p:nvSpPr>
          <p:cNvPr id="60" name="Without IoC"/>
          <p:cNvSpPr/>
          <p:nvPr/>
        </p:nvSpPr>
        <p:spPr>
          <a:xfrm>
            <a:off x="1200000" y="4250000"/>
            <a:ext cx="3800000" cy="160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txBody>
          <a:bodyPr lIns="182880" tIns="91440" rIns="137160" bIns="91440" anchor="ctr">
            <a:normAutofit/>
          </a:bodyPr>
          <a:lstStyle/>
          <a:p>
            <a:r>
              <a:rPr lang="en-US" sz="1500" b="1">
                <a:solidFill>
                  <a:schemeClr val="accent5"/>
                </a:solidFill>
              </a:rPr>
              <a:t>Without IoC</a:t>
            </a:r>
          </a:p>
          <a:p>
            <a:r>
              <a:rPr lang="en-US" sz="1100">
                <a:solidFill>
                  <a:schemeClr val="tx1"/>
                </a:solidFill>
              </a:rPr>
              <a:t>Your code creates and owns its dependencies (new Processor(...)).</a:t>
            </a:r>
          </a:p>
        </p:txBody>
      </p:sp>
      <p:sp>
        <p:nvSpPr>
          <p:cNvPr id="61" name="With IoC"/>
          <p:cNvSpPr/>
          <p:nvPr/>
        </p:nvSpPr>
        <p:spPr>
          <a:xfrm>
            <a:off x="7100000" y="4250000"/>
            <a:ext cx="3800000" cy="160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lIns="182880" tIns="91440" rIns="137160" bIns="91440" anchor="ctr">
            <a:normAutofit/>
          </a:bodyPr>
          <a:lstStyle/>
          <a:p>
            <a:r>
              <a:rPr lang="en-US" sz="1500" b="1">
                <a:solidFill>
                  <a:schemeClr val="accent1"/>
                </a:solidFill>
              </a:rPr>
              <a:t>With IoC</a:t>
            </a:r>
          </a:p>
          <a:p>
            <a:r>
              <a:rPr lang="en-US" sz="1100">
                <a:solidFill>
                  <a:schemeClr val="tx1"/>
                </a:solidFill>
              </a:rPr>
              <a:t>A container creates the objects and hands them to your code.</a:t>
            </a:r>
          </a:p>
        </p:txBody>
      </p:sp>
      <p:sp>
        <p:nvSpPr>
          <p:cNvPr id="62" name="Arrow"/>
          <p:cNvSpPr/>
          <p:nvPr/>
        </p:nvSpPr>
        <p:spPr>
          <a:xfrm>
            <a:off x="5250000" y="4850000"/>
            <a:ext cx="1600000" cy="400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03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A605-5F54-5A7E-AFE2-FF24D8BB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 b="1" dirty="0">
                <a:latin typeface="ATT Aleck Sans" panose="020B0503020203020204" pitchFamily="34" charset="0"/>
                <a:cs typeface="ATT Aleck Sans" panose="020B0503020203020204" pitchFamily="34" charset="0"/>
              </a:rPr>
              <a:t>Purposes of IoC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F8EC1-FE59-2C1C-561E-3C475AD57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720" y="1372313"/>
            <a:ext cx="8596668" cy="38807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Decouple </a:t>
            </a: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what </a:t>
            </a: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a </a:t>
            </a: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component does </a:t>
            </a: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from </a:t>
            </a: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how </a:t>
            </a: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its </a:t>
            </a: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dependencies are built</a:t>
            </a:r>
            <a:endParaRPr lang="en-US" sz="2400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Greater </a:t>
            </a: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modularity </a:t>
            </a: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- a Computer need not know how </a:t>
            </a: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a </a:t>
            </a: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Processor is created</a:t>
            </a:r>
            <a:endParaRPr lang="en-US" sz="2400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Easier </a:t>
            </a: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testing </a:t>
            </a: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- isolate </a:t>
            </a: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components or </a:t>
            </a: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inject mocks instead of real ones</a:t>
            </a:r>
            <a:endParaRPr lang="en-US" sz="2400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367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3CEB-B33C-5604-02BC-3036BDA84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The </a:t>
            </a:r>
            <a:r>
              <a:rPr lang="en-US" b="1" dirty="0"/>
              <a:t>traditional OOP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AC2F-998A-9E7F-DD71-83F787124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4702" y="1954925"/>
            <a:ext cx="9732581" cy="40864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TT Aleck Sans" panose="020B0503020203020204" pitchFamily="34" charset="0"/>
                <a:cs typeface="ATT Aleck Sans" panose="020B0503020203020204" pitchFamily="34" charset="0"/>
              </a:rPr>
              <a:t>In traditional OOP programming, when an object (e.g., a Computer) is created, it also instantiates its dependent classes (e.g., Processor, RAM instances):</a:t>
            </a:r>
          </a:p>
          <a:p>
            <a:pPr marL="0" indent="0"/>
            <a:endParaRPr lang="en-US" sz="2000" dirty="0">
              <a:solidFill>
                <a:srgbClr val="FFFFFF"/>
              </a:solidFill>
              <a:latin typeface="ATT Aleck Sans" panose="020B0503020203020204" pitchFamily="34" charset="0"/>
              <a:cs typeface="ATT Aleck Sans" panose="020B0503020203020204" pitchFamily="34" charset="0"/>
            </a:endParaRPr>
          </a:p>
          <a:p>
            <a:endParaRPr lang="en-US" sz="2000" dirty="0">
              <a:solidFill>
                <a:srgbClr val="FFFFFF"/>
              </a:solidFill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0CD3CA-7661-11B9-AF07-F39AF318C632}"/>
              </a:ext>
            </a:extLst>
          </p:cNvPr>
          <p:cNvSpPr txBox="1">
            <a:spLocks/>
          </p:cNvSpPr>
          <p:nvPr/>
        </p:nvSpPr>
        <p:spPr>
          <a:xfrm>
            <a:off x="677333" y="2821899"/>
            <a:ext cx="4184035" cy="974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1C26D4-78CB-FC76-B716-3912090A6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92" y="2901832"/>
            <a:ext cx="8962697" cy="349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10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5D9E-229E-E0D1-DCAC-8CEEA363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169" y="199696"/>
            <a:ext cx="8596668" cy="1320800"/>
          </a:xfrm>
        </p:spPr>
        <p:txBody>
          <a:bodyPr/>
          <a:lstStyle/>
          <a:p>
            <a:r>
              <a:rPr lang="en-IL" b="1" dirty="0">
                <a:latin typeface="ATT Aleck Sans" panose="020B0503020203020204" pitchFamily="34" charset="0"/>
                <a:cs typeface="ATT Aleck Sans" panose="020B0503020203020204" pitchFamily="34" charset="0"/>
              </a:rPr>
              <a:t>What could be the problems with this implementation?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665E5-7BFC-8A6E-C923-33299B2CB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230" y="1572010"/>
            <a:ext cx="9296983" cy="3880772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IL" sz="2200" dirty="0">
                <a:latin typeface="ATT Aleck Sans" panose="020B0503020203020204" pitchFamily="34" charset="0"/>
                <a:cs typeface="ATT Aleck Sans" panose="020B0503020203020204" pitchFamily="34" charset="0"/>
              </a:rPr>
              <a:t>Tight coupling </a:t>
            </a:r>
            <a:r>
              <a:rPr lang="en-IL" sz="2200">
                <a:latin typeface="ATT Aleck Sans" panose="020B0503020203020204" pitchFamily="34" charset="0"/>
                <a:cs typeface="ATT Aleck Sans" panose="020B0503020203020204" pitchFamily="34" charset="0"/>
              </a:rPr>
              <a:t>between Computer</a:t>
            </a:r>
            <a:r>
              <a:rPr lang="en-IL" sz="2200" dirty="0">
                <a:latin typeface="ATT Aleck Sans" panose="020B0503020203020204" pitchFamily="34" charset="0"/>
                <a:cs typeface="ATT Aleck Sans" panose="020B0503020203020204" pitchFamily="34" charset="0"/>
              </a:rPr>
              <a:t> and its components:</a:t>
            </a:r>
          </a:p>
          <a:p>
            <a:pPr>
              <a:lnSpc>
                <a:spcPct val="160000"/>
              </a:lnSpc>
            </a:pPr>
            <a:r>
              <a:rPr lang="en-IL" sz="2200" dirty="0">
                <a:latin typeface="ATT Aleck Sans" panose="020B0503020203020204" pitchFamily="34" charset="0"/>
                <a:cs typeface="ATT Aleck Sans" panose="020B0503020203020204" pitchFamily="34" charset="0"/>
              </a:rPr>
              <a:t>We </a:t>
            </a:r>
            <a:r>
              <a:rPr lang="en-IL" sz="2200">
                <a:latin typeface="ATT Aleck Sans" panose="020B0503020203020204" pitchFamily="34" charset="0"/>
                <a:cs typeface="ATT Aleck Sans" panose="020B0503020203020204" pitchFamily="34" charset="0"/>
              </a:rPr>
              <a:t>must</a:t>
            </a:r>
            <a:r>
              <a:rPr lang="en-IL" sz="2200" dirty="0">
                <a:latin typeface="ATT Aleck Sans" panose="020B0503020203020204" pitchFamily="34" charset="0"/>
                <a:cs typeface="ATT Aleck Sans" panose="020B0503020203020204" pitchFamily="34" charset="0"/>
              </a:rPr>
              <a:t> know how to create every component and which </a:t>
            </a:r>
            <a:r>
              <a:rPr lang="en-IL" sz="2200">
                <a:latin typeface="ATT Aleck Sans" panose="020B0503020203020204" pitchFamily="34" charset="0"/>
                <a:cs typeface="ATT Aleck Sans" panose="020B0503020203020204" pitchFamily="34" charset="0"/>
              </a:rPr>
              <a:t>constructor </a:t>
            </a:r>
            <a:r>
              <a:rPr lang="en-IL" sz="2200" dirty="0">
                <a:latin typeface="ATT Aleck Sans" panose="020B0503020203020204" pitchFamily="34" charset="0"/>
                <a:cs typeface="ATT Aleck Sans" panose="020B0503020203020204" pitchFamily="34" charset="0"/>
              </a:rPr>
              <a:t>parameters to </a:t>
            </a:r>
            <a:r>
              <a:rPr lang="en-IL" sz="2200">
                <a:latin typeface="ATT Aleck Sans" panose="020B0503020203020204" pitchFamily="34" charset="0"/>
                <a:cs typeface="ATT Aleck Sans" panose="020B0503020203020204" pitchFamily="34" charset="0"/>
              </a:rPr>
              <a:t>pass</a:t>
            </a:r>
            <a:r>
              <a:rPr lang="en-IL" sz="2200" dirty="0">
                <a:latin typeface="ATT Aleck Sans" panose="020B0503020203020204" pitchFamily="34" charset="0"/>
                <a:cs typeface="ATT Aleck Sans" panose="020B0503020203020204" pitchFamily="34" charset="0"/>
              </a:rPr>
              <a:t>.</a:t>
            </a:r>
            <a:endParaRPr lang="en-IL" sz="2200">
              <a:latin typeface="ATT Aleck Sans" panose="020B0503020203020204" pitchFamily="34" charset="0"/>
              <a:cs typeface="ATT Aleck Sans" panose="020B0503020203020204" pitchFamily="34" charset="0"/>
            </a:endParaRPr>
          </a:p>
          <a:p>
            <a:pPr>
              <a:lnSpc>
                <a:spcPct val="160000"/>
              </a:lnSpc>
            </a:pPr>
            <a:r>
              <a:rPr lang="en-IL" sz="2200">
                <a:latin typeface="ATT Aleck Sans" panose="020B0503020203020204" pitchFamily="34" charset="0"/>
                <a:cs typeface="ATT Aleck Sans" panose="020B0503020203020204" pitchFamily="34" charset="0"/>
              </a:rPr>
              <a:t>A Computer</a:t>
            </a:r>
            <a:r>
              <a:rPr lang="en-IL" sz="2200" dirty="0">
                <a:latin typeface="ATT Aleck Sans" panose="020B0503020203020204" pitchFamily="34" charset="0"/>
                <a:cs typeface="ATT Aleck Sans" panose="020B0503020203020204" pitchFamily="34" charset="0"/>
              </a:rPr>
              <a:t> with a different </a:t>
            </a:r>
            <a:r>
              <a:rPr lang="en-IL" sz="2200">
                <a:latin typeface="ATT Aleck Sans" panose="020B0503020203020204" pitchFamily="34" charset="0"/>
                <a:cs typeface="ATT Aleck Sans" panose="020B0503020203020204" pitchFamily="34" charset="0"/>
              </a:rPr>
              <a:t>Processor requires yet </a:t>
            </a:r>
            <a:r>
              <a:rPr lang="en-IL" sz="2200" dirty="0">
                <a:latin typeface="ATT Aleck Sans" panose="020B0503020203020204" pitchFamily="34" charset="0"/>
                <a:cs typeface="ATT Aleck Sans" panose="020B0503020203020204" pitchFamily="34" charset="0"/>
              </a:rPr>
              <a:t>another </a:t>
            </a:r>
            <a:r>
              <a:rPr lang="en-IL" sz="2200">
                <a:latin typeface="ATT Aleck Sans" panose="020B0503020203020204" pitchFamily="34" charset="0"/>
                <a:cs typeface="ATT Aleck Sans" panose="020B0503020203020204" pitchFamily="34" charset="0"/>
              </a:rPr>
              <a:t>Computer </a:t>
            </a:r>
            <a:r>
              <a:rPr lang="en-IL" sz="2200" dirty="0">
                <a:latin typeface="ATT Aleck Sans" panose="020B0503020203020204" pitchFamily="34" charset="0"/>
                <a:cs typeface="ATT Aleck Sans" panose="020B0503020203020204" pitchFamily="34" charset="0"/>
              </a:rPr>
              <a:t>class.</a:t>
            </a:r>
            <a:endParaRPr lang="en-IL" sz="2200">
              <a:latin typeface="ATT Aleck Sans" panose="020B0503020203020204" pitchFamily="34" charset="0"/>
              <a:cs typeface="ATT Aleck Sans" panose="020B0503020203020204" pitchFamily="34" charset="0"/>
            </a:endParaRPr>
          </a:p>
          <a:p>
            <a:pPr>
              <a:lnSpc>
                <a:spcPct val="160000"/>
              </a:lnSpc>
            </a:pPr>
            <a:r>
              <a:rPr lang="en-IL" sz="2200">
                <a:latin typeface="ATT Aleck Sans" panose="020B0503020203020204" pitchFamily="34" charset="0"/>
                <a:cs typeface="ATT Aleck Sans" panose="020B0503020203020204" pitchFamily="34" charset="0"/>
              </a:rPr>
              <a:t>Testing is hard - there is no way to </a:t>
            </a:r>
            <a:r>
              <a:rPr lang="en-IL" sz="2200" dirty="0">
                <a:latin typeface="ATT Aleck Sans" panose="020B0503020203020204" pitchFamily="34" charset="0"/>
                <a:cs typeface="ATT Aleck Sans" panose="020B0503020203020204" pitchFamily="34" charset="0"/>
              </a:rPr>
              <a:t>inject mocks</a:t>
            </a:r>
            <a:r>
              <a:rPr lang="en-IL" sz="2200">
                <a:latin typeface="ATT Aleck Sans" panose="020B0503020203020204" pitchFamily="34" charset="0"/>
                <a:cs typeface="ATT Aleck Sans" panose="020B0503020203020204" pitchFamily="34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IL" sz="2200">
                <a:latin typeface="ATT Aleck Sans" panose="020B0503020203020204" pitchFamily="34" charset="0"/>
                <a:cs typeface="ATT Aleck Sans" panose="020B0503020203020204" pitchFamily="34" charset="0"/>
              </a:rPr>
              <a:t>Poor polymorphism.</a:t>
            </a:r>
            <a:endParaRPr lang="en-IL" sz="2200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  <a:p>
            <a:pPr>
              <a:lnSpc>
                <a:spcPct val="160000"/>
              </a:lnSpc>
            </a:pPr>
            <a:r>
              <a:rPr lang="en-IL" sz="2200" dirty="0">
                <a:latin typeface="ATT Aleck Sans" panose="020B0503020203020204" pitchFamily="34" charset="0"/>
                <a:cs typeface="ATT Aleck Sans" panose="020B0503020203020204" pitchFamily="34" charset="0"/>
              </a:rPr>
              <a:t>Leads to implementation-based design.</a:t>
            </a:r>
            <a:endParaRPr lang="en-IL" sz="220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028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4EF4-4CDB-B5BC-9E3C-1E76189F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b="1" dirty="0">
                <a:latin typeface="ATT Aleck Sans" panose="020B0503020203020204" pitchFamily="34" charset="0"/>
                <a:cs typeface="ATT Aleck Sans" panose="020B0503020203020204" pitchFamily="34" charset="0"/>
              </a:rPr>
              <a:t>IoC with the </a:t>
            </a:r>
            <a:r>
              <a:rPr lang="en-IL" b="1" i="1" dirty="0">
                <a:latin typeface="ATT Aleck Sans" panose="020B0503020203020204" pitchFamily="34" charset="0"/>
                <a:cs typeface="ATT Aleck Sans" panose="020B0503020203020204" pitchFamily="34" charset="0"/>
              </a:rPr>
              <a:t>Factory</a:t>
            </a:r>
            <a:r>
              <a:rPr lang="en-IL" b="1" dirty="0">
                <a:latin typeface="ATT Aleck Sans" panose="020B0503020203020204" pitchFamily="34" charset="0"/>
                <a:cs typeface="ATT Aleck Sans" panose="020B0503020203020204" pitchFamily="34" charset="0"/>
              </a:rPr>
              <a:t> pattern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D03C92-DAD5-D3DE-99BD-E0D454C03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5057" y="5470635"/>
            <a:ext cx="8227205" cy="13873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ATT Aleck Sans" panose="020B0503020203020204" pitchFamily="34" charset="0"/>
                <a:cs typeface="ATT Aleck Sans" panose="020B0503020203020204" pitchFamily="34" charset="0"/>
              </a:rPr>
              <a:t>What we gained: control of creating dependent class objects is inverted to the Factory.</a:t>
            </a:r>
          </a:p>
          <a:p>
            <a:pPr marL="0" indent="0">
              <a:buNone/>
            </a:pPr>
            <a:r>
              <a:rPr lang="en-US">
                <a:latin typeface="ATT Aleck Sans" panose="020B0503020203020204" pitchFamily="34" charset="0"/>
                <a:cs typeface="ATT Aleck Sans" panose="020B0503020203020204" pitchFamily="34" charset="0"/>
              </a:rPr>
              <a:t>What's still wrong: Computer still uses the concrete GraphicCardFactory class, so the classes are not fully loosely coupled.</a:t>
            </a:r>
            <a:endParaRPr lang="en-IL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20B73-4DCC-C824-064A-B65C8B33F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04" y="1380251"/>
            <a:ext cx="7772400" cy="386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22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6AFD-C30A-821E-A6B9-462C7DA9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L" b="1" dirty="0">
                <a:latin typeface="ATT Aleck Sans" panose="020B0503020203020204" pitchFamily="34" charset="0"/>
                <a:cs typeface="ATT Aleck Sans" panose="020B0503020203020204" pitchFamily="34" charset="0"/>
              </a:rPr>
              <a:t>Dependency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ECF89-653D-AB01-9A55-75A538E9C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354" y="1424865"/>
            <a:ext cx="9370555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A design pattern used to manage dependencies between objects.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It allows an object to receive </a:t>
            </a: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the </a:t>
            </a: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objects it depends on, rather than creating them itself.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ATT Aleck Sans" panose="020B0503020203020204" pitchFamily="34" charset="0"/>
                <a:cs typeface="ATT Aleck Sans" panose="020B0503020203020204" pitchFamily="34" charset="0"/>
              </a:rPr>
              <a:t>This promotes a more modular, testable and maintainable codebase.</a:t>
            </a:r>
            <a:endParaRPr lang="en-US" sz="2400">
              <a:latin typeface="ATT Aleck Sans" panose="020B0503020203020204" pitchFamily="34" charset="0"/>
              <a:cs typeface="ATT Aleck Sans" panose="020B0503020203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>
                <a:latin typeface="ATT Aleck Sans" panose="020B0503020203020204" pitchFamily="34" charset="0"/>
                <a:cs typeface="ATT Aleck Sans" panose="020B0503020203020204" pitchFamily="34" charset="0"/>
              </a:rPr>
              <a:t>DI is one of the SOLID object-oriented principles.</a:t>
            </a:r>
            <a:endParaRPr lang="en-US" sz="2400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111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D40A2-2337-C7EF-497B-DC5858615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89518"/>
          </a:xfrm>
        </p:spPr>
        <p:txBody>
          <a:bodyPr>
            <a:normAutofit/>
          </a:bodyPr>
          <a:lstStyle/>
          <a:p>
            <a:r>
              <a:rPr lang="en-IL" b="1">
                <a:latin typeface="ATT Aleck Sans" panose="020B0503020203020204" pitchFamily="34" charset="0"/>
                <a:cs typeface="ATT Aleck Sans" panose="020B0503020203020204" pitchFamily="34" charset="0"/>
              </a:rPr>
              <a:t>DI applied: the Computer example</a:t>
            </a:r>
            <a:endParaRPr lang="en-IL" b="1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08066-28F5-E4CC-070E-659B2B456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238" y="1341446"/>
            <a:ext cx="10726528" cy="6134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ATT Aleck Sans" panose="020B0503020203020204" pitchFamily="34" charset="0"/>
                <a:cs typeface="ATT Aleck Sans" panose="020B0503020203020204" pitchFamily="34" charset="0"/>
              </a:rPr>
              <a:t>Instead of having </a:t>
            </a:r>
            <a:r>
              <a:rPr lang="en-US" dirty="0">
                <a:latin typeface="ATT Aleck Sans" panose="020B0503020203020204" pitchFamily="34" charset="0"/>
                <a:cs typeface="ATT Aleck Sans" panose="020B0503020203020204" pitchFamily="34" charset="0"/>
              </a:rPr>
              <a:t>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Computer</a:t>
            </a:r>
            <a:r>
              <a:rPr lang="en-US" dirty="0">
                <a:latin typeface="ATT Aleck Sans" panose="020B0503020203020204" pitchFamily="34" charset="0"/>
                <a:cs typeface="ATT Aleck Sans" panose="020B0503020203020204" pitchFamily="34" charset="0"/>
              </a:rPr>
              <a:t> object </a:t>
            </a:r>
            <a:r>
              <a:rPr lang="en-US" sz="1800" dirty="0">
                <a:latin typeface="ATT Aleck Sans" panose="020B0503020203020204" pitchFamily="34" charset="0"/>
                <a:cs typeface="ATT Aleck Sans" panose="020B0503020203020204" pitchFamily="34" charset="0"/>
              </a:rPr>
              <a:t>control its dependencies (instantiate them), </a:t>
            </a:r>
            <a:br>
              <a:rPr lang="en-US" sz="1800" dirty="0">
                <a:latin typeface="ATT Aleck Sans" panose="020B0503020203020204" pitchFamily="34" charset="0"/>
                <a:cs typeface="ATT Aleck Sans" panose="020B0503020203020204" pitchFamily="34" charset="0"/>
              </a:rPr>
            </a:br>
            <a:r>
              <a:rPr lang="en-US" dirty="0">
                <a:latin typeface="ATT Aleck Sans" panose="020B0503020203020204" pitchFamily="34" charset="0"/>
                <a:cs typeface="ATT Aleck Sans" panose="020B0503020203020204" pitchFamily="34" charset="0"/>
              </a:rPr>
              <a:t>let’s supply (inject) them for it! </a:t>
            </a:r>
            <a:endParaRPr lang="en-IL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DB061D-64DF-1198-07AA-142552298B4C}"/>
              </a:ext>
            </a:extLst>
          </p:cNvPr>
          <p:cNvSpPr txBox="1"/>
          <p:nvPr/>
        </p:nvSpPr>
        <p:spPr>
          <a:xfrm>
            <a:off x="9343697" y="2827282"/>
            <a:ext cx="27721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TT Aleck Sans" panose="020B0503020203020204" pitchFamily="34" charset="0"/>
                <a:cs typeface="ATT Aleck Sans" panose="020B0503020203020204" pitchFamily="34" charset="0"/>
              </a:rPr>
              <a:t>By using DI, we can rewrite the example without specifying the implementations of the components we want.</a:t>
            </a:r>
            <a:endParaRPr lang="en-IL" dirty="0">
              <a:latin typeface="ATT Aleck Sans" panose="020B0503020203020204" pitchFamily="34" charset="0"/>
              <a:cs typeface="ATT Aleck Sans" panose="020B05030202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9A4BF-D4B5-1D9C-BD28-6CE90E279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35" y="2153805"/>
            <a:ext cx="8220812" cy="374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57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850000"/>
          </a:xfrm>
        </p:spPr>
        <p:txBody>
          <a:bodyPr>
            <a:normAutofit/>
          </a:bodyPr>
          <a:lstStyle/>
          <a:p>
            <a:r>
              <a:rPr lang="en-US" sz="3200" b="1"/>
              <a:t>Next steps</a:t>
            </a:r>
          </a:p>
        </p:txBody>
      </p:sp>
      <p:sp>
        <p:nvSpPr>
          <p:cNvPr id="30" name="Card Clone the repo"/>
          <p:cNvSpPr/>
          <p:nvPr/>
        </p:nvSpPr>
        <p:spPr>
          <a:xfrm>
            <a:off x="900000" y="2100000"/>
            <a:ext cx="3400000" cy="220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lIns="182880" tIns="91440" rIns="137160" bIns="91440" anchor="ctr">
            <a:normAutofit/>
          </a:bodyPr>
          <a:lstStyle/>
          <a:p>
            <a:r>
              <a:rPr lang="en-US" sz="1600" b="1">
                <a:solidFill>
                  <a:schemeClr val="accent1"/>
                </a:solidFill>
              </a:rPr>
              <a:t>Clone the repo</a:t>
            </a:r>
          </a:p>
          <a:p>
            <a:r>
              <a:rPr lang="en-US" sz="1200">
                <a:solidFill>
                  <a:schemeClr val="tx1"/>
                </a:solidFill>
              </a:rPr>
              <a:t>The README drives the whole workshop - start there.</a:t>
            </a:r>
          </a:p>
        </p:txBody>
      </p:sp>
      <p:sp>
        <p:nvSpPr>
          <p:cNvPr id="31" name="Card Work branch by branch"/>
          <p:cNvSpPr/>
          <p:nvPr/>
        </p:nvSpPr>
        <p:spPr>
          <a:xfrm>
            <a:off x="4600000" y="2100000"/>
            <a:ext cx="3400000" cy="220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txBody>
          <a:bodyPr lIns="182880" tIns="91440" rIns="137160" bIns="91440" anchor="ctr">
            <a:normAutofit/>
          </a:bodyPr>
          <a:lstStyle/>
          <a:p>
            <a:r>
              <a:rPr lang="en-US" sz="1600" b="1">
                <a:solidFill>
                  <a:schemeClr val="accent3"/>
                </a:solidFill>
              </a:rPr>
              <a:t>Work branch by branch</a:t>
            </a:r>
          </a:p>
          <a:p>
            <a:r>
              <a:rPr lang="en-US" sz="1200">
                <a:solidFill>
                  <a:schemeClr val="tx1"/>
                </a:solidFill>
              </a:rPr>
              <a:t>Every topic has its own branch; use the repo as a reference later.</a:t>
            </a:r>
          </a:p>
        </p:txBody>
      </p:sp>
      <p:sp>
        <p:nvSpPr>
          <p:cNvPr id="32" name="Card Join the support group"/>
          <p:cNvSpPr/>
          <p:nvPr/>
        </p:nvSpPr>
        <p:spPr>
          <a:xfrm>
            <a:off x="8300000" y="2100000"/>
            <a:ext cx="3400000" cy="22000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lIns="182880" tIns="91440" rIns="137160" bIns="91440" anchor="ctr">
            <a:normAutofit/>
          </a:bodyPr>
          <a:lstStyle/>
          <a:p>
            <a:r>
              <a:rPr lang="en-US" sz="1600" b="1">
                <a:solidFill>
                  <a:schemeClr val="accent4"/>
                </a:solidFill>
              </a:rPr>
              <a:t>Join the support group</a:t>
            </a:r>
          </a:p>
          <a:p>
            <a:r>
              <a:rPr lang="en-US" sz="1200">
                <a:solidFill>
                  <a:schemeClr val="tx1"/>
                </a:solidFill>
              </a:rPr>
              <a:t>Bring your questions after the workshop - the group stays open.</a:t>
            </a:r>
          </a:p>
        </p:txBody>
      </p:sp>
      <p:sp>
        <p:nvSpPr>
          <p:cNvPr id="40" name="Thanks"/>
          <p:cNvSpPr/>
          <p:nvPr/>
        </p:nvSpPr>
        <p:spPr>
          <a:xfrm>
            <a:off x="900000" y="4900000"/>
            <a:ext cx="10300000" cy="700000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 algn="ctr"/>
            <a:r>
              <a:rPr lang="en-US" sz="2000" b="1">
                <a:solidFill>
                  <a:schemeClr val="accent1"/>
                </a:solidFill>
              </a:rPr>
              <a:t>Thanks - questions?</a:t>
            </a:r>
          </a:p>
        </p:txBody>
      </p:sp>
    </p:spTree>
    <p:extLst>
      <p:ext uri="{BB962C8B-B14F-4D97-AF65-F5344CB8AC3E}">
        <p14:creationId xmlns:p14="http://schemas.microsoft.com/office/powerpoint/2010/main" val="12574146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8d5390-0f7b-4213-8bcd-0cd5cf778ba6">
      <Terms xmlns="http://schemas.microsoft.com/office/infopath/2007/PartnerControls"/>
    </lcf76f155ced4ddcb4097134ff3c332f>
    <TaxCatchAll xmlns="e5f39eeb-dc9c-40bf-a733-e74d7baf73b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80062C165A384BBE4202BE72680A0C" ma:contentTypeVersion="16" ma:contentTypeDescription="Create a new document." ma:contentTypeScope="" ma:versionID="ad4a4175eb2c3e09fcddefcd48156f8d">
  <xsd:schema xmlns:xsd="http://www.w3.org/2001/XMLSchema" xmlns:xs="http://www.w3.org/2001/XMLSchema" xmlns:p="http://schemas.microsoft.com/office/2006/metadata/properties" xmlns:ns2="858d5390-0f7b-4213-8bcd-0cd5cf778ba6" xmlns:ns3="48da0e76-8a7c-448c-bc5b-f1ed517f7411" xmlns:ns4="e5f39eeb-dc9c-40bf-a733-e74d7baf73b9" targetNamespace="http://schemas.microsoft.com/office/2006/metadata/properties" ma:root="true" ma:fieldsID="ea247dcd7b1180b70e9ff4f92c286293" ns2:_="" ns3:_="" ns4:_="">
    <xsd:import namespace="858d5390-0f7b-4213-8bcd-0cd5cf778ba6"/>
    <xsd:import namespace="48da0e76-8a7c-448c-bc5b-f1ed517f7411"/>
    <xsd:import namespace="e5f39eeb-dc9c-40bf-a733-e74d7baf7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8d5390-0f7b-4213-8bcd-0cd5cf778b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3403bee6-18b9-4adc-a956-fe59d3db99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da0e76-8a7c-448c-bc5b-f1ed517f741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39eeb-dc9c-40bf-a733-e74d7baf73b9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bd34ca88-2e70-4bb1-821d-c885e9bbd7c1}" ma:internalName="TaxCatchAll" ma:showField="CatchAllData" ma:web="48da0e76-8a7c-448c-bc5b-f1ed517f74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AF7FB3-E9ED-4EED-B8B3-D582CBAD96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532926-D782-41F9-BAB4-3CFD211C0FE2}">
  <ds:schemaRefs>
    <ds:schemaRef ds:uri="http://schemas.microsoft.com/office/2006/metadata/properties"/>
    <ds:schemaRef ds:uri="http://schemas.microsoft.com/office/infopath/2007/PartnerControls"/>
    <ds:schemaRef ds:uri="858d5390-0f7b-4213-8bcd-0cd5cf778ba6"/>
    <ds:schemaRef ds:uri="e5f39eeb-dc9c-40bf-a733-e74d7baf73b9"/>
  </ds:schemaRefs>
</ds:datastoreItem>
</file>

<file path=customXml/itemProps3.xml><?xml version="1.0" encoding="utf-8"?>
<ds:datastoreItem xmlns:ds="http://schemas.openxmlformats.org/officeDocument/2006/customXml" ds:itemID="{AE7FD026-DEEB-4862-93FA-5080F11894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8d5390-0f7b-4213-8bcd-0cd5cf778ba6"/>
    <ds:schemaRef ds:uri="48da0e76-8a7c-448c-bc5b-f1ed517f7411"/>
    <ds:schemaRef ds:uri="e5f39eeb-dc9c-40bf-a733-e74d7baf73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54823</TotalTime>
  <Words>750</Words>
  <Application>Microsoft Macintosh PowerPoint</Application>
  <PresentationFormat>Widescreen</PresentationFormat>
  <Paragraphs>101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ATT Aleck Sans</vt:lpstr>
      <vt:lpstr>Calibri</vt:lpstr>
      <vt:lpstr>Consolas</vt:lpstr>
      <vt:lpstr>Trebuchet MS</vt:lpstr>
      <vt:lpstr>Wingdings 3</vt:lpstr>
      <vt:lpstr>Facet</vt:lpstr>
      <vt:lpstr>Practical Spring Boot For TDP</vt:lpstr>
      <vt:lpstr>ABOUT ME</vt:lpstr>
      <vt:lpstr>HIGHLIGHTS</vt:lpstr>
      <vt:lpstr>Agenda</vt:lpstr>
      <vt:lpstr>PowerPoint Presentation</vt:lpstr>
      <vt:lpstr>Why use a web framework?</vt:lpstr>
      <vt:lpstr>What is Spring Boot?</vt:lpstr>
      <vt:lpstr>What you get out of the box</vt:lpstr>
      <vt:lpstr>Inversion of Control (IoC)</vt:lpstr>
      <vt:lpstr>Purposes of IoC</vt:lpstr>
      <vt:lpstr>The traditional OOP approach</vt:lpstr>
      <vt:lpstr>What could be the problems with this implementation?</vt:lpstr>
      <vt:lpstr>IoC with the Factory pattern</vt:lpstr>
      <vt:lpstr>Dependency Injection</vt:lpstr>
      <vt:lpstr>DI applied: the Computer example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for Beginners</dc:title>
  <dc:creator>Bensman, Julia</dc:creator>
  <cp:lastModifiedBy>Shalom, Idan</cp:lastModifiedBy>
  <cp:revision>138</cp:revision>
  <dcterms:created xsi:type="dcterms:W3CDTF">2022-11-18T15:10:01Z</dcterms:created>
  <dcterms:modified xsi:type="dcterms:W3CDTF">2026-09-12T14:49:32Z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0x0101001980062C165A384BBE4202BE72680A0C</vt:lpwstr>
  </property>
</Properties>
</file>